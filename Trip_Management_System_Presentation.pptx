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18" r:id="rId5"/>
    <p:sldId id="317" r:id="rId6"/>
    <p:sldId id="301" r:id="rId7"/>
    <p:sldId id="260" r:id="rId8"/>
    <p:sldId id="327" r:id="rId9"/>
    <p:sldId id="326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88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3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rtl="0"/>
            <a:fld id="{00000000-1234-1234-1234-123412341234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992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7225" y="513034"/>
            <a:ext cx="437769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7900" y="1169821"/>
            <a:ext cx="7922259" cy="340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3075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9311" y="269483"/>
            <a:ext cx="50336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C5ADB"/>
                </a:solidFill>
                <a:latin typeface="Times New Roman"/>
                <a:cs typeface="Times New Roman"/>
              </a:rPr>
              <a:t>KONGU ENGINEERING COLLEGE </a:t>
            </a:r>
            <a:r>
              <a:rPr lang="en-US" sz="2400" dirty="0">
                <a:solidFill>
                  <a:srgbClr val="619428"/>
                </a:solidFill>
                <a:latin typeface="Times New Roman"/>
                <a:cs typeface="Times New Roman"/>
              </a:rPr>
              <a:t>PERUNDURAI ERODE-638060 </a:t>
            </a:r>
            <a:r>
              <a:rPr lang="en-US" sz="2400" dirty="0">
                <a:solidFill>
                  <a:srgbClr val="0C5ADB"/>
                </a:solidFill>
                <a:latin typeface="Times New Roman"/>
                <a:cs typeface="Times New Roman"/>
              </a:rPr>
              <a:t>DEPARTMENT OF CSE</a:t>
            </a:r>
          </a:p>
        </p:txBody>
      </p:sp>
      <p:sp>
        <p:nvSpPr>
          <p:cNvPr id="4" name="Project title"/>
          <p:cNvSpPr txBox="1"/>
          <p:nvPr/>
        </p:nvSpPr>
        <p:spPr>
          <a:xfrm>
            <a:off x="2743200" y="1600200"/>
            <a:ext cx="539496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0"/>
              </a:spcBef>
            </a:pPr>
            <a:r>
              <a:rPr sz="2400" b="1">
                <a:latin typeface="Times New Roman"/>
              </a:rPr>
              <a:t>TRIP MANAGEMENT SYSTEM (TMS)</a:t>
            </a:r>
          </a:p>
          <a:p>
            <a:r>
              <a:rPr sz="2000" b="1">
                <a:solidFill>
                  <a:srgbClr val="59A5C5"/>
                </a:solidFill>
                <a:latin typeface="Times New Roman"/>
              </a:rPr>
              <a:t>AGILE SCRUM PROJECT REVIEW</a:t>
            </a:r>
          </a:p>
          <a:p>
            <a:r>
              <a:rPr sz="1800" b="1">
                <a:solidFill>
                  <a:srgbClr val="59A5C5"/>
                </a:solidFill>
                <a:latin typeface="Times New Roman"/>
              </a:rPr>
              <a:t>OCTOBER 2026</a:t>
            </a:r>
          </a:p>
        </p:txBody>
      </p:sp>
      <p:sp>
        <p:nvSpPr>
          <p:cNvPr id="5" name="Presented by"/>
          <p:cNvSpPr txBox="1"/>
          <p:nvPr/>
        </p:nvSpPr>
        <p:spPr>
          <a:xfrm>
            <a:off x="2578608" y="352044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262626"/>
                </a:solidFill>
                <a:latin typeface="Times New Roman"/>
              </a:rPr>
              <a:t>PRESENTED BY</a:t>
            </a:r>
          </a:p>
          <a:p>
            <a:r>
              <a:rPr sz="1300" b="0">
                <a:solidFill>
                  <a:srgbClr val="262626"/>
                </a:solidFill>
                <a:latin typeface="Times New Roman"/>
              </a:rPr>
              <a:t>DHARWISH AHAMED R  -  24CSR065</a:t>
            </a:r>
          </a:p>
          <a:p>
            <a:r>
              <a:rPr sz="1300" b="0">
                <a:solidFill>
                  <a:srgbClr val="262626"/>
                </a:solidFill>
                <a:latin typeface="Times New Roman"/>
              </a:rPr>
              <a:t>GOWTHAM K                     -  24CSR083</a:t>
            </a:r>
          </a:p>
          <a:p>
            <a:r>
              <a:rPr sz="1300" b="0">
                <a:solidFill>
                  <a:srgbClr val="262626"/>
                </a:solidFill>
                <a:latin typeface="Times New Roman"/>
              </a:rPr>
              <a:t>GUNAVARMAN M S           -  24CSR086</a:t>
            </a:r>
          </a:p>
          <a:p>
            <a:r>
              <a:rPr sz="1300" b="0">
                <a:solidFill>
                  <a:srgbClr val="262626"/>
                </a:solidFill>
                <a:latin typeface="Times New Roman"/>
              </a:rPr>
              <a:t>GURUPRASAD S S             -  24CSR088</a:t>
            </a:r>
          </a:p>
        </p:txBody>
      </p:sp>
      <p:sp>
        <p:nvSpPr>
          <p:cNvPr id="6" name="Guided by"/>
          <p:cNvSpPr txBox="1"/>
          <p:nvPr/>
        </p:nvSpPr>
        <p:spPr>
          <a:xfrm>
            <a:off x="6355080" y="3520440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Times New Roman"/>
                <a:cs typeface="Times New Roman"/>
              </a:rPr>
              <a:t>GUIDED BY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DR.N.SASIPRIYAA,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M.E., Ph.D.,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INTRODUCTION AND OBJECTIVES</a:t>
            </a:r>
          </a:p>
        </p:txBody>
      </p:sp>
      <p:sp>
        <p:nvSpPr>
          <p:cNvPr id="3" name="Intro panel"/>
          <p:cNvSpPr txBox="1"/>
          <p:nvPr/>
        </p:nvSpPr>
        <p:spPr>
          <a:xfrm>
            <a:off x="1005840" y="1097280"/>
            <a:ext cx="3500000" cy="3703320"/>
          </a:xfrm>
          <a:prstGeom prst="roundRect">
            <a:avLst>
              <a:gd name="adj" fmla="val 5000"/>
            </a:avLst>
          </a:prstGeom>
          <a:solidFill>
            <a:srgbClr val="1F3A68"/>
          </a:solidFill>
          <a:ln>
            <a:noFill/>
          </a:ln>
        </p:spPr>
        <p:txBody>
          <a:bodyPr wrap="square" lIns="150000" tIns="150000" rIns="150000" bIns="15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1">
                <a:solidFill>
                  <a:srgbClr val="111827"/>
                </a:solidFill>
                <a:latin typeface="Times New Roman"/>
              </a:rPr>
              <a:t>Introduction</a:t>
            </a:r>
          </a:p>
          <a:p>
            <a:r>
              <a:rPr sz="1200" b="0">
                <a:solidFill>
                  <a:srgbClr val="374151"/>
                </a:solidFill>
                <a:latin typeface="Times New Roman"/>
              </a:rPr>
              <a:t>Trip Management System is a full-stack web application that digitizes tourist itineraries and streamlines travel compliance records.</a:t>
            </a:r>
          </a:p>
          <a:p>
            <a:r>
              <a:rPr sz="1200" b="0">
                <a:solidFill>
                  <a:srgbClr val="374151"/>
                </a:solidFill>
                <a:latin typeface="Times New Roman"/>
              </a:rPr>
              <a:t>It connects two primary users: International / Domestic Travelers and Government Tourism &amp; Audit Authorities.</a:t>
            </a:r>
          </a:p>
          <a:p>
            <a:r>
              <a:rPr sz="1200" b="0">
                <a:solidFill>
                  <a:srgbClr val="374151"/>
                </a:solidFill>
                <a:latin typeface="Times New Roman"/>
              </a:rPr>
              <a:t>One workflow links registration, itinerary creation, landmark logging, photo documentation, compliance submission, and audit analytics.</a:t>
            </a:r>
          </a:p>
        </p:txBody>
      </p:sp>
      <p:sp>
        <p:nvSpPr>
          <p:cNvPr id="4" name="Objectives heading"/>
          <p:cNvSpPr txBox="1"/>
          <p:nvPr/>
        </p:nvSpPr>
        <p:spPr>
          <a:xfrm>
            <a:off x="4705840" y="1097280"/>
            <a:ext cx="416384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3A68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5" name="Objective 1"/>
          <p:cNvSpPr txBox="1"/>
          <p:nvPr/>
        </p:nvSpPr>
        <p:spPr>
          <a:xfrm>
            <a:off x="4705840" y="1497280"/>
            <a:ext cx="4163840" cy="5886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6" name="Obj badge 1"/>
          <p:cNvSpPr txBox="1"/>
          <p:nvPr/>
        </p:nvSpPr>
        <p:spPr>
          <a:xfrm>
            <a:off x="4815840" y="1601612"/>
            <a:ext cx="380000" cy="38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7" name="Objective text 1"/>
          <p:cNvSpPr txBox="1"/>
          <p:nvPr/>
        </p:nvSpPr>
        <p:spPr>
          <a:xfrm>
            <a:off x="5265840" y="1497280"/>
            <a:ext cx="3523840" cy="588664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Times New Roman"/>
              </a:rPr>
              <a:t>Make travel itinerary planning and budget tracking convenient for tourists.</a:t>
            </a:r>
          </a:p>
        </p:txBody>
      </p:sp>
      <p:sp>
        <p:nvSpPr>
          <p:cNvPr id="8" name="Objective 2"/>
          <p:cNvSpPr txBox="1"/>
          <p:nvPr/>
        </p:nvSpPr>
        <p:spPr>
          <a:xfrm>
            <a:off x="4705840" y="2175944"/>
            <a:ext cx="4163840" cy="5886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9" name="Obj badge 2"/>
          <p:cNvSpPr txBox="1"/>
          <p:nvPr/>
        </p:nvSpPr>
        <p:spPr>
          <a:xfrm>
            <a:off x="4815840" y="2280276"/>
            <a:ext cx="380000" cy="38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" name="Objective text 2"/>
          <p:cNvSpPr txBox="1"/>
          <p:nvPr/>
        </p:nvSpPr>
        <p:spPr>
          <a:xfrm>
            <a:off x="5265840" y="2175944"/>
            <a:ext cx="3523840" cy="588664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Times New Roman"/>
              </a:rPr>
              <a:t>Improve landmark logging with visited dates, notes, and experience ratings.</a:t>
            </a:r>
          </a:p>
        </p:txBody>
      </p:sp>
      <p:sp>
        <p:nvSpPr>
          <p:cNvPr id="11" name="Objective 3"/>
          <p:cNvSpPr txBox="1"/>
          <p:nvPr/>
        </p:nvSpPr>
        <p:spPr>
          <a:xfrm>
            <a:off x="4705840" y="2854608"/>
            <a:ext cx="4163840" cy="5886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2" name="Obj badge 3"/>
          <p:cNvSpPr txBox="1"/>
          <p:nvPr/>
        </p:nvSpPr>
        <p:spPr>
          <a:xfrm>
            <a:off x="4815840" y="2958940"/>
            <a:ext cx="380000" cy="38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3" name="Objective text 3"/>
          <p:cNvSpPr txBox="1"/>
          <p:nvPr/>
        </p:nvSpPr>
        <p:spPr>
          <a:xfrm>
            <a:off x="5265840" y="2854608"/>
            <a:ext cx="3523840" cy="588664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Times New Roman"/>
              </a:rPr>
              <a:t>Maintain digital records of all journeys with photographic evidence.</a:t>
            </a:r>
          </a:p>
        </p:txBody>
      </p:sp>
      <p:sp>
        <p:nvSpPr>
          <p:cNvPr id="14" name="Objective 4"/>
          <p:cNvSpPr txBox="1"/>
          <p:nvPr/>
        </p:nvSpPr>
        <p:spPr>
          <a:xfrm>
            <a:off x="4705840" y="3533272"/>
            <a:ext cx="4163840" cy="5886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5" name="Obj badge 4"/>
          <p:cNvSpPr txBox="1"/>
          <p:nvPr/>
        </p:nvSpPr>
        <p:spPr>
          <a:xfrm>
            <a:off x="4815840" y="3637604"/>
            <a:ext cx="380000" cy="38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6" name="Objective text 4"/>
          <p:cNvSpPr txBox="1"/>
          <p:nvPr/>
        </p:nvSpPr>
        <p:spPr>
          <a:xfrm>
            <a:off x="5265840" y="3533272"/>
            <a:ext cx="3523840" cy="588664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Times New Roman"/>
              </a:rPr>
              <a:t>Provide better tourist density and destination visibility for authorities.</a:t>
            </a:r>
          </a:p>
        </p:txBody>
      </p:sp>
      <p:sp>
        <p:nvSpPr>
          <p:cNvPr id="17" name="Objective 5"/>
          <p:cNvSpPr txBox="1"/>
          <p:nvPr/>
        </p:nvSpPr>
        <p:spPr>
          <a:xfrm>
            <a:off x="4705840" y="4211936"/>
            <a:ext cx="4163840" cy="5886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8" name="Obj badge 5"/>
          <p:cNvSpPr txBox="1"/>
          <p:nvPr/>
        </p:nvSpPr>
        <p:spPr>
          <a:xfrm>
            <a:off x="4815840" y="4316268"/>
            <a:ext cx="380000" cy="38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9" name="Objective text 5"/>
          <p:cNvSpPr txBox="1"/>
          <p:nvPr/>
        </p:nvSpPr>
        <p:spPr>
          <a:xfrm>
            <a:off x="5265840" y="4211936"/>
            <a:ext cx="3523840" cy="588664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62626"/>
                </a:solidFill>
                <a:latin typeface="Times New Roman"/>
              </a:rPr>
              <a:t>Support transparent government monitoring of submitted travel activities.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USERS AND MODULES</a:t>
            </a:r>
          </a:p>
        </p:txBody>
      </p:sp>
      <p:sp>
        <p:nvSpPr>
          <p:cNvPr id="3" name="Role card 1"/>
          <p:cNvSpPr txBox="1"/>
          <p:nvPr/>
        </p:nvSpPr>
        <p:spPr>
          <a:xfrm>
            <a:off x="1005840" y="1097280"/>
            <a:ext cx="250128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68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4" name="Role badge 1"/>
          <p:cNvSpPr txBox="1"/>
          <p:nvPr/>
        </p:nvSpPr>
        <p:spPr>
          <a:xfrm>
            <a:off x="1125840" y="1207280"/>
            <a:ext cx="380000" cy="3800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T</a:t>
            </a:r>
          </a:p>
        </p:txBody>
      </p:sp>
      <p:sp>
        <p:nvSpPr>
          <p:cNvPr id="5" name="Role head 1"/>
          <p:cNvSpPr txBox="1"/>
          <p:nvPr/>
        </p:nvSpPr>
        <p:spPr>
          <a:xfrm>
            <a:off x="1605840" y="1207280"/>
            <a:ext cx="184128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Traveler</a:t>
            </a:r>
          </a:p>
        </p:txBody>
      </p:sp>
      <p:sp>
        <p:nvSpPr>
          <p:cNvPr id="6" name="Role list 1"/>
          <p:cNvSpPr txBox="1"/>
          <p:nvPr/>
        </p:nvSpPr>
        <p:spPr>
          <a:xfrm>
            <a:off x="1115840" y="1677280"/>
            <a:ext cx="2281280" cy="15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Times New Roman"/>
              </a:rPr>
              <a:t>Register and log in securely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Create and customize trip itineraries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Log visited places with dates and ratings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Upload photos and submit trips for audit</a:t>
            </a:r>
          </a:p>
        </p:txBody>
      </p:sp>
      <p:sp>
        <p:nvSpPr>
          <p:cNvPr id="7" name="Role card 2"/>
          <p:cNvSpPr txBox="1"/>
          <p:nvPr/>
        </p:nvSpPr>
        <p:spPr>
          <a:xfrm>
            <a:off x="3687120" y="1097280"/>
            <a:ext cx="250128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B7F79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8" name="Role badge 2"/>
          <p:cNvSpPr txBox="1"/>
          <p:nvPr/>
        </p:nvSpPr>
        <p:spPr>
          <a:xfrm>
            <a:off x="3807120" y="1207280"/>
            <a:ext cx="380000" cy="380000"/>
          </a:xfrm>
          <a:prstGeom prst="ellipse">
            <a:avLst/>
          </a:prstGeom>
          <a:solidFill>
            <a:srgbClr val="1B7F7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G</a:t>
            </a:r>
          </a:p>
        </p:txBody>
      </p:sp>
      <p:sp>
        <p:nvSpPr>
          <p:cNvPr id="9" name="Role head 2"/>
          <p:cNvSpPr txBox="1"/>
          <p:nvPr/>
        </p:nvSpPr>
        <p:spPr>
          <a:xfrm>
            <a:off x="4287120" y="1207280"/>
            <a:ext cx="184128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Government Authority</a:t>
            </a:r>
          </a:p>
        </p:txBody>
      </p:sp>
      <p:sp>
        <p:nvSpPr>
          <p:cNvPr id="10" name="Role list 2"/>
          <p:cNvSpPr txBox="1"/>
          <p:nvPr/>
        </p:nvSpPr>
        <p:spPr>
          <a:xfrm>
            <a:off x="3797120" y="1677280"/>
            <a:ext cx="2281280" cy="15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B7F79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Times New Roman"/>
              </a:rPr>
              <a:t>Access central submitted travel registry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Search and filter records across travelers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Inspect trip itineraries, places and media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Monitor tourist volume and compliance</a:t>
            </a:r>
          </a:p>
        </p:txBody>
      </p:sp>
      <p:sp>
        <p:nvSpPr>
          <p:cNvPr id="11" name="Role card 3"/>
          <p:cNvSpPr txBox="1"/>
          <p:nvPr/>
        </p:nvSpPr>
        <p:spPr>
          <a:xfrm>
            <a:off x="6368400" y="1097280"/>
            <a:ext cx="250128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2" name="Role badge 3"/>
          <p:cNvSpPr txBox="1"/>
          <p:nvPr/>
        </p:nvSpPr>
        <p:spPr>
          <a:xfrm>
            <a:off x="6488400" y="1207280"/>
            <a:ext cx="380000" cy="38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A</a:t>
            </a:r>
          </a:p>
        </p:txBody>
      </p:sp>
      <p:sp>
        <p:nvSpPr>
          <p:cNvPr id="13" name="Role head 3"/>
          <p:cNvSpPr txBox="1"/>
          <p:nvPr/>
        </p:nvSpPr>
        <p:spPr>
          <a:xfrm>
            <a:off x="6968400" y="1207280"/>
            <a:ext cx="1841280" cy="38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Tourism Auditor</a:t>
            </a:r>
          </a:p>
        </p:txBody>
      </p:sp>
      <p:sp>
        <p:nvSpPr>
          <p:cNvPr id="14" name="Role list 3"/>
          <p:cNvSpPr txBox="1"/>
          <p:nvPr/>
        </p:nvSpPr>
        <p:spPr>
          <a:xfrm>
            <a:off x="6478400" y="1677280"/>
            <a:ext cx="2281280" cy="15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07A1F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Times New Roman"/>
              </a:rPr>
              <a:t>Analyze destination popularity metrics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Track travel activity by calendar date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Audit photographic logs in media gallery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Generate compliance and density reports</a:t>
            </a:r>
          </a:p>
        </p:txBody>
      </p:sp>
      <p:sp>
        <p:nvSpPr>
          <p:cNvPr id="15" name="Modules label"/>
          <p:cNvSpPr txBox="1"/>
          <p:nvPr/>
        </p:nvSpPr>
        <p:spPr>
          <a:xfrm>
            <a:off x="1005840" y="3377280"/>
            <a:ext cx="786384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F3A68"/>
                </a:solidFill>
                <a:latin typeface="Times New Roman"/>
                <a:cs typeface="Times New Roman"/>
              </a:rPr>
              <a:t>Core modules</a:t>
            </a:r>
          </a:p>
        </p:txBody>
      </p:sp>
      <p:sp>
        <p:nvSpPr>
          <p:cNvPr id="16" name="Module 1"/>
          <p:cNvSpPr txBox="1"/>
          <p:nvPr/>
        </p:nvSpPr>
        <p:spPr>
          <a:xfrm>
            <a:off x="1005840" y="370728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Registration &amp; Login (JWT)</a:t>
            </a:r>
          </a:p>
        </p:txBody>
      </p:sp>
      <p:sp>
        <p:nvSpPr>
          <p:cNvPr id="17" name="Module 2"/>
          <p:cNvSpPr txBox="1"/>
          <p:nvPr/>
        </p:nvSpPr>
        <p:spPr>
          <a:xfrm>
            <a:off x="2596896" y="370728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Trip Itinerary Management</a:t>
            </a:r>
          </a:p>
        </p:txBody>
      </p:sp>
      <p:sp>
        <p:nvSpPr>
          <p:cNvPr id="18" name="Module 3"/>
          <p:cNvSpPr txBox="1"/>
          <p:nvPr/>
        </p:nvSpPr>
        <p:spPr>
          <a:xfrm>
            <a:off x="4187952" y="370728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Visited Places &amp; Landmarks</a:t>
            </a:r>
          </a:p>
        </p:txBody>
      </p:sp>
      <p:sp>
        <p:nvSpPr>
          <p:cNvPr id="19" name="Module 4"/>
          <p:cNvSpPr txBox="1"/>
          <p:nvPr/>
        </p:nvSpPr>
        <p:spPr>
          <a:xfrm>
            <a:off x="5779008" y="370728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Photo &amp; Narrative Logging</a:t>
            </a:r>
          </a:p>
        </p:txBody>
      </p:sp>
      <p:sp>
        <p:nvSpPr>
          <p:cNvPr id="20" name="Module 5"/>
          <p:cNvSpPr txBox="1"/>
          <p:nvPr/>
        </p:nvSpPr>
        <p:spPr>
          <a:xfrm>
            <a:off x="7370064" y="370728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Submission &amp; Compliance Lock</a:t>
            </a:r>
          </a:p>
        </p:txBody>
      </p:sp>
      <p:sp>
        <p:nvSpPr>
          <p:cNvPr id="21" name="Module 6"/>
          <p:cNvSpPr txBox="1"/>
          <p:nvPr/>
        </p:nvSpPr>
        <p:spPr>
          <a:xfrm>
            <a:off x="1005840" y="421872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Previous Trips Archive</a:t>
            </a:r>
          </a:p>
        </p:txBody>
      </p:sp>
      <p:sp>
        <p:nvSpPr>
          <p:cNvPr id="22" name="Module 7"/>
          <p:cNvSpPr txBox="1"/>
          <p:nvPr/>
        </p:nvSpPr>
        <p:spPr>
          <a:xfrm>
            <a:off x="2596896" y="421872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Government Audit Registry</a:t>
            </a:r>
          </a:p>
        </p:txBody>
      </p:sp>
      <p:sp>
        <p:nvSpPr>
          <p:cNvPr id="23" name="Module 8"/>
          <p:cNvSpPr txBox="1"/>
          <p:nvPr/>
        </p:nvSpPr>
        <p:spPr>
          <a:xfrm>
            <a:off x="4187952" y="421872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Search &amp; Multi-Filter Engine</a:t>
            </a:r>
          </a:p>
        </p:txBody>
      </p:sp>
      <p:sp>
        <p:nvSpPr>
          <p:cNvPr id="24" name="Module 9"/>
          <p:cNvSpPr txBox="1"/>
          <p:nvPr/>
        </p:nvSpPr>
        <p:spPr>
          <a:xfrm>
            <a:off x="5779008" y="421872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Destination Intelligence</a:t>
            </a:r>
          </a:p>
        </p:txBody>
      </p:sp>
      <p:sp>
        <p:nvSpPr>
          <p:cNvPr id="25" name="Module 10"/>
          <p:cNvSpPr txBox="1"/>
          <p:nvPr/>
        </p:nvSpPr>
        <p:spPr>
          <a:xfrm>
            <a:off x="7370064" y="4218720"/>
            <a:ext cx="1499616" cy="4200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30000" tIns="30000" rIns="30000" bIns="3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Activity by Date &amp; Gallery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USE CASE DIAGRAM</a:t>
            </a:r>
          </a:p>
        </p:txBody>
      </p:sp>
      <p:sp>
        <p:nvSpPr>
          <p:cNvPr id="3" name="System boundary"/>
          <p:cNvSpPr txBox="1"/>
          <p:nvPr/>
        </p:nvSpPr>
        <p:spPr>
          <a:xfrm>
            <a:off x="1800000" y="1097280"/>
            <a:ext cx="5800000" cy="3100000"/>
          </a:xfrm>
          <a:prstGeom prst="rect">
            <a:avLst/>
          </a:prstGeom>
          <a:solidFill>
            <a:srgbClr val="F7F9FD"/>
          </a:solidFill>
          <a:ln w="19050">
            <a:solidFill>
              <a:srgbClr val="1F3A6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4" name="System label"/>
          <p:cNvSpPr txBox="1"/>
          <p:nvPr/>
        </p:nvSpPr>
        <p:spPr>
          <a:xfrm>
            <a:off x="1880000" y="1137280"/>
            <a:ext cx="260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Trip Management System</a:t>
            </a:r>
          </a:p>
        </p:txBody>
      </p:sp>
      <p:sp>
        <p:nvSpPr>
          <p:cNvPr id="5" name="UC Beneficiary 1"/>
          <p:cNvSpPr txBox="1"/>
          <p:nvPr/>
        </p:nvSpPr>
        <p:spPr>
          <a:xfrm>
            <a:off x="1920000" y="1380000"/>
            <a:ext cx="1700000" cy="500000"/>
          </a:xfrm>
          <a:prstGeom prst="ellipse">
            <a:avLst/>
          </a:prstGeom>
          <a:solidFill>
            <a:srgbClr val="E4EDFA"/>
          </a:solidFill>
          <a:ln w="15875">
            <a:solidFill>
              <a:srgbClr val="1F3A68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Register / Login</a:t>
            </a:r>
          </a:p>
        </p:txBody>
      </p:sp>
      <p:sp>
        <p:nvSpPr>
          <p:cNvPr id="6" name="UC Beneficiary 2"/>
          <p:cNvSpPr txBox="1"/>
          <p:nvPr/>
        </p:nvSpPr>
        <p:spPr>
          <a:xfrm>
            <a:off x="1920000" y="1920000"/>
            <a:ext cx="1700000" cy="500000"/>
          </a:xfrm>
          <a:prstGeom prst="ellipse">
            <a:avLst/>
          </a:prstGeom>
          <a:solidFill>
            <a:srgbClr val="E4EDFA"/>
          </a:solidFill>
          <a:ln w="15875">
            <a:solidFill>
              <a:srgbClr val="1F3A68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Create Trip &amp; Set Budget</a:t>
            </a:r>
          </a:p>
        </p:txBody>
      </p:sp>
      <p:sp>
        <p:nvSpPr>
          <p:cNvPr id="7" name="UC Beneficiary 3"/>
          <p:cNvSpPr txBox="1"/>
          <p:nvPr/>
        </p:nvSpPr>
        <p:spPr>
          <a:xfrm>
            <a:off x="1920000" y="2460000"/>
            <a:ext cx="1700000" cy="500000"/>
          </a:xfrm>
          <a:prstGeom prst="ellipse">
            <a:avLst/>
          </a:prstGeom>
          <a:solidFill>
            <a:srgbClr val="E4EDFA"/>
          </a:solidFill>
          <a:ln w="15875">
            <a:solidFill>
              <a:srgbClr val="1F3A68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Add Visited Places &amp; Notes</a:t>
            </a:r>
          </a:p>
        </p:txBody>
      </p:sp>
      <p:sp>
        <p:nvSpPr>
          <p:cNvPr id="8" name="UC Beneficiary 4"/>
          <p:cNvSpPr txBox="1"/>
          <p:nvPr/>
        </p:nvSpPr>
        <p:spPr>
          <a:xfrm>
            <a:off x="1920000" y="3000000"/>
            <a:ext cx="1700000" cy="500000"/>
          </a:xfrm>
          <a:prstGeom prst="ellipse">
            <a:avLst/>
          </a:prstGeom>
          <a:solidFill>
            <a:srgbClr val="E4EDFA"/>
          </a:solidFill>
          <a:ln w="15875">
            <a:solidFill>
              <a:srgbClr val="1F3A68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Upload Photos &amp; Captions</a:t>
            </a:r>
          </a:p>
        </p:txBody>
      </p:sp>
      <p:sp>
        <p:nvSpPr>
          <p:cNvPr id="9" name="UC FPS 1"/>
          <p:cNvSpPr txBox="1"/>
          <p:nvPr/>
        </p:nvSpPr>
        <p:spPr>
          <a:xfrm>
            <a:off x="5770000" y="1380000"/>
            <a:ext cx="1700000" cy="500000"/>
          </a:xfrm>
          <a:prstGeom prst="ellipse">
            <a:avLst/>
          </a:prstGeom>
          <a:solidFill>
            <a:srgbClr val="DDF1EF"/>
          </a:solidFill>
          <a:ln w="15875">
            <a:solidFill>
              <a:srgbClr val="1B7F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Edit / Delete Draft Trips</a:t>
            </a:r>
          </a:p>
        </p:txBody>
      </p:sp>
      <p:sp>
        <p:nvSpPr>
          <p:cNvPr id="10" name="UC FPS 2"/>
          <p:cNvSpPr txBox="1"/>
          <p:nvPr/>
        </p:nvSpPr>
        <p:spPr>
          <a:xfrm>
            <a:off x="5770000" y="1920000"/>
            <a:ext cx="1700000" cy="500000"/>
          </a:xfrm>
          <a:prstGeom prst="ellipse">
            <a:avLst/>
          </a:prstGeom>
          <a:solidFill>
            <a:srgbClr val="DDF1EF"/>
          </a:solidFill>
          <a:ln w="15875">
            <a:solidFill>
              <a:srgbClr val="1B7F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Submit Trip for Audit</a:t>
            </a:r>
          </a:p>
        </p:txBody>
      </p:sp>
      <p:sp>
        <p:nvSpPr>
          <p:cNvPr id="11" name="UC FPS 3"/>
          <p:cNvSpPr txBox="1"/>
          <p:nvPr/>
        </p:nvSpPr>
        <p:spPr>
          <a:xfrm>
            <a:off x="5770000" y="2460000"/>
            <a:ext cx="1700000" cy="500000"/>
          </a:xfrm>
          <a:prstGeom prst="ellipse">
            <a:avLst/>
          </a:prstGeom>
          <a:solidFill>
            <a:srgbClr val="DDF1EF"/>
          </a:solidFill>
          <a:ln w="15875">
            <a:solidFill>
              <a:srgbClr val="1B7F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Search &amp; Filter Records</a:t>
            </a:r>
          </a:p>
        </p:txBody>
      </p:sp>
      <p:sp>
        <p:nvSpPr>
          <p:cNvPr id="12" name="UC FPS 4"/>
          <p:cNvSpPr txBox="1"/>
          <p:nvPr/>
        </p:nvSpPr>
        <p:spPr>
          <a:xfrm>
            <a:off x="5770000" y="3000000"/>
            <a:ext cx="1700000" cy="500000"/>
          </a:xfrm>
          <a:prstGeom prst="ellipse">
            <a:avLst/>
          </a:prstGeom>
          <a:solidFill>
            <a:srgbClr val="DDF1EF"/>
          </a:solidFill>
          <a:ln w="15875">
            <a:solidFill>
              <a:srgbClr val="1B7F79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Inspect Submitted Dossiers</a:t>
            </a:r>
          </a:p>
        </p:txBody>
      </p:sp>
      <p:sp>
        <p:nvSpPr>
          <p:cNvPr id="13" name="UC Generate QR"/>
          <p:cNvSpPr txBox="1"/>
          <p:nvPr/>
        </p:nvSpPr>
        <p:spPr>
          <a:xfrm>
            <a:off x="3800000" y="1920000"/>
            <a:ext cx="1700000" cy="500000"/>
          </a:xfrm>
          <a:prstGeom prst="ellipse">
            <a:avLst/>
          </a:prstGeom>
          <a:solidFill>
            <a:srgbClr val="262626"/>
          </a:solidFill>
          <a:ln w="15875">
            <a:solidFill>
              <a:srgbClr val="262626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Compliance Lock (Submitted)</a:t>
            </a:r>
          </a:p>
        </p:txBody>
      </p:sp>
      <p:sp>
        <p:nvSpPr>
          <p:cNvPr id="14" name="UC Admin 1"/>
          <p:cNvSpPr txBox="1"/>
          <p:nvPr/>
        </p:nvSpPr>
        <p:spPr>
          <a:xfrm>
            <a:off x="3100000" y="3680000"/>
            <a:ext cx="1500000" cy="500000"/>
          </a:xfrm>
          <a:prstGeom prst="ellipse">
            <a:avLst/>
          </a:prstGeom>
          <a:solidFill>
            <a:srgbClr val="FCEBDA"/>
          </a:solidFill>
          <a:ln w="15875">
            <a:solidFill>
              <a:srgbClr val="E07A1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Monitor Destination Stats</a:t>
            </a:r>
          </a:p>
        </p:txBody>
      </p:sp>
      <p:sp>
        <p:nvSpPr>
          <p:cNvPr id="15" name="UC Admin 2"/>
          <p:cNvSpPr txBox="1"/>
          <p:nvPr/>
        </p:nvSpPr>
        <p:spPr>
          <a:xfrm>
            <a:off x="4700000" y="3680000"/>
            <a:ext cx="1500000" cy="500000"/>
          </a:xfrm>
          <a:prstGeom prst="ellipse">
            <a:avLst/>
          </a:prstGeom>
          <a:solidFill>
            <a:srgbClr val="FCEBDA"/>
          </a:solidFill>
          <a:ln w="15875">
            <a:solidFill>
              <a:srgbClr val="E07A1F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Audit Date Activity &amp; Photos</a:t>
            </a:r>
          </a:p>
        </p:txBody>
      </p:sp>
      <p:sp>
        <p:nvSpPr>
          <p:cNvPr id="16" name="Beneficiary head"/>
          <p:cNvSpPr txBox="1"/>
          <p:nvPr/>
        </p:nvSpPr>
        <p:spPr>
          <a:xfrm>
            <a:off x="1230000" y="2250000"/>
            <a:ext cx="140000" cy="14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8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cxnSp>
        <p:nvCxnSpPr>
          <p:cNvPr id="17" name="Beneficiary body"/>
          <p:cNvCxnSpPr/>
          <p:nvPr/>
        </p:nvCxnSpPr>
        <p:spPr>
          <a:xfrm>
            <a:off x="1300000" y="2390000"/>
            <a:ext cx="0" cy="170000"/>
          </a:xfrm>
          <a:prstGeom prst="straightConnector1">
            <a:avLst/>
          </a:prstGeom>
          <a:ln w="19050">
            <a:solidFill>
              <a:srgbClr val="1F3A68"/>
            </a:solidFill>
          </a:ln>
        </p:spPr>
      </p:cxnSp>
      <p:cxnSp>
        <p:nvCxnSpPr>
          <p:cNvPr id="18" name="Beneficiary arms"/>
          <p:cNvCxnSpPr/>
          <p:nvPr/>
        </p:nvCxnSpPr>
        <p:spPr>
          <a:xfrm>
            <a:off x="1190000" y="2435000"/>
            <a:ext cx="220000" cy="0"/>
          </a:xfrm>
          <a:prstGeom prst="straightConnector1">
            <a:avLst/>
          </a:prstGeom>
          <a:ln w="19050">
            <a:solidFill>
              <a:srgbClr val="1F3A68"/>
            </a:solidFill>
          </a:ln>
        </p:spPr>
      </p:cxnSp>
      <p:cxnSp>
        <p:nvCxnSpPr>
          <p:cNvPr id="19" name="Beneficiary leg L"/>
          <p:cNvCxnSpPr/>
          <p:nvPr/>
        </p:nvCxnSpPr>
        <p:spPr>
          <a:xfrm flipH="1">
            <a:off x="1210000" y="2560000"/>
            <a:ext cx="90000" cy="130000"/>
          </a:xfrm>
          <a:prstGeom prst="straightConnector1">
            <a:avLst/>
          </a:prstGeom>
          <a:ln w="19050">
            <a:solidFill>
              <a:srgbClr val="1F3A68"/>
            </a:solidFill>
          </a:ln>
        </p:spPr>
      </p:cxnSp>
      <p:cxnSp>
        <p:nvCxnSpPr>
          <p:cNvPr id="20" name="Beneficiary leg R"/>
          <p:cNvCxnSpPr/>
          <p:nvPr/>
        </p:nvCxnSpPr>
        <p:spPr>
          <a:xfrm>
            <a:off x="1300000" y="2560000"/>
            <a:ext cx="90000" cy="130000"/>
          </a:xfrm>
          <a:prstGeom prst="straightConnector1">
            <a:avLst/>
          </a:prstGeom>
          <a:ln w="19050">
            <a:solidFill>
              <a:srgbClr val="1F3A68"/>
            </a:solidFill>
          </a:ln>
        </p:spPr>
      </p:cxnSp>
      <p:sp>
        <p:nvSpPr>
          <p:cNvPr id="21" name="Beneficiary label"/>
          <p:cNvSpPr txBox="1"/>
          <p:nvPr/>
        </p:nvSpPr>
        <p:spPr>
          <a:xfrm>
            <a:off x="780000" y="2710000"/>
            <a:ext cx="1040000" cy="20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626"/>
                </a:solidFill>
                <a:latin typeface="Times New Roman"/>
              </a:rPr>
              <a:t>Traveler</a:t>
            </a:r>
          </a:p>
        </p:txBody>
      </p:sp>
      <p:sp>
        <p:nvSpPr>
          <p:cNvPr id="22" name="FPS Owner head"/>
          <p:cNvSpPr txBox="1"/>
          <p:nvPr/>
        </p:nvSpPr>
        <p:spPr>
          <a:xfrm>
            <a:off x="8164840" y="2250000"/>
            <a:ext cx="140000" cy="14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F7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cxnSp>
        <p:nvCxnSpPr>
          <p:cNvPr id="23" name="FPS Owner body"/>
          <p:cNvCxnSpPr/>
          <p:nvPr/>
        </p:nvCxnSpPr>
        <p:spPr>
          <a:xfrm>
            <a:off x="8234840" y="2390000"/>
            <a:ext cx="0" cy="170000"/>
          </a:xfrm>
          <a:prstGeom prst="straightConnector1">
            <a:avLst/>
          </a:prstGeom>
          <a:ln w="19050">
            <a:solidFill>
              <a:srgbClr val="1B7F79"/>
            </a:solidFill>
          </a:ln>
        </p:spPr>
      </p:cxnSp>
      <p:cxnSp>
        <p:nvCxnSpPr>
          <p:cNvPr id="24" name="FPS Owner arms"/>
          <p:cNvCxnSpPr/>
          <p:nvPr/>
        </p:nvCxnSpPr>
        <p:spPr>
          <a:xfrm>
            <a:off x="8124840" y="2435000"/>
            <a:ext cx="220000" cy="0"/>
          </a:xfrm>
          <a:prstGeom prst="straightConnector1">
            <a:avLst/>
          </a:prstGeom>
          <a:ln w="19050">
            <a:solidFill>
              <a:srgbClr val="1B7F79"/>
            </a:solidFill>
          </a:ln>
        </p:spPr>
      </p:cxnSp>
      <p:cxnSp>
        <p:nvCxnSpPr>
          <p:cNvPr id="25" name="FPS Owner leg L"/>
          <p:cNvCxnSpPr/>
          <p:nvPr/>
        </p:nvCxnSpPr>
        <p:spPr>
          <a:xfrm flipH="1">
            <a:off x="8144840" y="2560000"/>
            <a:ext cx="90000" cy="130000"/>
          </a:xfrm>
          <a:prstGeom prst="straightConnector1">
            <a:avLst/>
          </a:prstGeom>
          <a:ln w="19050">
            <a:solidFill>
              <a:srgbClr val="1B7F79"/>
            </a:solidFill>
          </a:ln>
        </p:spPr>
      </p:cxnSp>
      <p:cxnSp>
        <p:nvCxnSpPr>
          <p:cNvPr id="26" name="FPS Owner leg R"/>
          <p:cNvCxnSpPr/>
          <p:nvPr/>
        </p:nvCxnSpPr>
        <p:spPr>
          <a:xfrm>
            <a:off x="8234840" y="2560000"/>
            <a:ext cx="90000" cy="130000"/>
          </a:xfrm>
          <a:prstGeom prst="straightConnector1">
            <a:avLst/>
          </a:prstGeom>
          <a:ln w="19050">
            <a:solidFill>
              <a:srgbClr val="1B7F79"/>
            </a:solidFill>
          </a:ln>
        </p:spPr>
      </p:cxnSp>
      <p:sp>
        <p:nvSpPr>
          <p:cNvPr id="27" name="FPS Owner label"/>
          <p:cNvSpPr txBox="1"/>
          <p:nvPr/>
        </p:nvSpPr>
        <p:spPr>
          <a:xfrm>
            <a:off x="7714840" y="2710000"/>
            <a:ext cx="1040000" cy="20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626"/>
                </a:solidFill>
                <a:latin typeface="Times New Roman"/>
              </a:rPr>
              <a:t>Compliance Lock</a:t>
            </a:r>
          </a:p>
        </p:txBody>
      </p:sp>
      <p:sp>
        <p:nvSpPr>
          <p:cNvPr id="28" name="Administrator head"/>
          <p:cNvSpPr txBox="1"/>
          <p:nvPr/>
        </p:nvSpPr>
        <p:spPr>
          <a:xfrm>
            <a:off x="4580000" y="4300000"/>
            <a:ext cx="140000" cy="14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A1F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cxnSp>
        <p:nvCxnSpPr>
          <p:cNvPr id="29" name="Administrator body"/>
          <p:cNvCxnSpPr/>
          <p:nvPr/>
        </p:nvCxnSpPr>
        <p:spPr>
          <a:xfrm>
            <a:off x="4650000" y="4440000"/>
            <a:ext cx="0" cy="170000"/>
          </a:xfrm>
          <a:prstGeom prst="straightConnector1">
            <a:avLst/>
          </a:prstGeom>
          <a:ln w="19050">
            <a:solidFill>
              <a:srgbClr val="E07A1F"/>
            </a:solidFill>
          </a:ln>
        </p:spPr>
      </p:cxnSp>
      <p:cxnSp>
        <p:nvCxnSpPr>
          <p:cNvPr id="30" name="Administrator arms"/>
          <p:cNvCxnSpPr/>
          <p:nvPr/>
        </p:nvCxnSpPr>
        <p:spPr>
          <a:xfrm>
            <a:off x="4540000" y="4485000"/>
            <a:ext cx="220000" cy="0"/>
          </a:xfrm>
          <a:prstGeom prst="straightConnector1">
            <a:avLst/>
          </a:prstGeom>
          <a:ln w="19050">
            <a:solidFill>
              <a:srgbClr val="E07A1F"/>
            </a:solidFill>
          </a:ln>
        </p:spPr>
      </p:cxnSp>
      <p:cxnSp>
        <p:nvCxnSpPr>
          <p:cNvPr id="31" name="Administrator leg L"/>
          <p:cNvCxnSpPr/>
          <p:nvPr/>
        </p:nvCxnSpPr>
        <p:spPr>
          <a:xfrm flipH="1">
            <a:off x="4560000" y="4610000"/>
            <a:ext cx="90000" cy="130000"/>
          </a:xfrm>
          <a:prstGeom prst="straightConnector1">
            <a:avLst/>
          </a:prstGeom>
          <a:ln w="19050">
            <a:solidFill>
              <a:srgbClr val="E07A1F"/>
            </a:solidFill>
          </a:ln>
        </p:spPr>
      </p:cxnSp>
      <p:cxnSp>
        <p:nvCxnSpPr>
          <p:cNvPr id="32" name="Administrator leg R"/>
          <p:cNvCxnSpPr/>
          <p:nvPr/>
        </p:nvCxnSpPr>
        <p:spPr>
          <a:xfrm>
            <a:off x="4650000" y="4610000"/>
            <a:ext cx="90000" cy="130000"/>
          </a:xfrm>
          <a:prstGeom prst="straightConnector1">
            <a:avLst/>
          </a:prstGeom>
          <a:ln w="19050">
            <a:solidFill>
              <a:srgbClr val="E07A1F"/>
            </a:solidFill>
          </a:ln>
        </p:spPr>
      </p:cxnSp>
      <p:sp>
        <p:nvSpPr>
          <p:cNvPr id="33" name="Administrator label"/>
          <p:cNvSpPr txBox="1"/>
          <p:nvPr/>
        </p:nvSpPr>
        <p:spPr>
          <a:xfrm>
            <a:off x="4130000" y="4760000"/>
            <a:ext cx="1040000" cy="20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626"/>
                </a:solidFill>
                <a:latin typeface="Times New Roman"/>
              </a:rPr>
              <a:t>Govt Authority</a:t>
            </a:r>
          </a:p>
        </p:txBody>
      </p:sp>
      <p:cxnSp>
        <p:nvCxnSpPr>
          <p:cNvPr id="34" name="Assoc B1"/>
          <p:cNvCxnSpPr/>
          <p:nvPr/>
        </p:nvCxnSpPr>
        <p:spPr>
          <a:xfrm flipV="1">
            <a:off x="1370000" y="1630000"/>
            <a:ext cx="550000" cy="850000"/>
          </a:xfrm>
          <a:prstGeom prst="straightConnector1">
            <a:avLst/>
          </a:prstGeom>
          <a:ln w="12700">
            <a:solidFill>
              <a:srgbClr val="1F3A68"/>
            </a:solidFill>
          </a:ln>
        </p:spPr>
      </p:cxnSp>
      <p:cxnSp>
        <p:nvCxnSpPr>
          <p:cNvPr id="35" name="Assoc F1"/>
          <p:cNvCxnSpPr/>
          <p:nvPr/>
        </p:nvCxnSpPr>
        <p:spPr>
          <a:xfrm flipH="1" flipV="1">
            <a:off x="7470000" y="1630000"/>
            <a:ext cx="694840" cy="850000"/>
          </a:xfrm>
          <a:prstGeom prst="straightConnector1">
            <a:avLst/>
          </a:prstGeom>
          <a:ln w="12700">
            <a:solidFill>
              <a:srgbClr val="1B7F79"/>
            </a:solidFill>
          </a:ln>
        </p:spPr>
      </p:cxnSp>
      <p:cxnSp>
        <p:nvCxnSpPr>
          <p:cNvPr id="36" name="Assoc B2"/>
          <p:cNvCxnSpPr/>
          <p:nvPr/>
        </p:nvCxnSpPr>
        <p:spPr>
          <a:xfrm flipV="1">
            <a:off x="1370000" y="2170000"/>
            <a:ext cx="550000" cy="310000"/>
          </a:xfrm>
          <a:prstGeom prst="straightConnector1">
            <a:avLst/>
          </a:prstGeom>
          <a:ln w="12700">
            <a:solidFill>
              <a:srgbClr val="1F3A68"/>
            </a:solidFill>
          </a:ln>
        </p:spPr>
      </p:cxnSp>
      <p:cxnSp>
        <p:nvCxnSpPr>
          <p:cNvPr id="37" name="Assoc F2"/>
          <p:cNvCxnSpPr/>
          <p:nvPr/>
        </p:nvCxnSpPr>
        <p:spPr>
          <a:xfrm flipH="1" flipV="1">
            <a:off x="7470000" y="2170000"/>
            <a:ext cx="694840" cy="310000"/>
          </a:xfrm>
          <a:prstGeom prst="straightConnector1">
            <a:avLst/>
          </a:prstGeom>
          <a:ln w="12700">
            <a:solidFill>
              <a:srgbClr val="1B7F79"/>
            </a:solidFill>
          </a:ln>
        </p:spPr>
      </p:cxnSp>
      <p:cxnSp>
        <p:nvCxnSpPr>
          <p:cNvPr id="38" name="Assoc B3"/>
          <p:cNvCxnSpPr/>
          <p:nvPr/>
        </p:nvCxnSpPr>
        <p:spPr>
          <a:xfrm>
            <a:off x="1370000" y="2480000"/>
            <a:ext cx="550000" cy="230000"/>
          </a:xfrm>
          <a:prstGeom prst="straightConnector1">
            <a:avLst/>
          </a:prstGeom>
          <a:ln w="12700">
            <a:solidFill>
              <a:srgbClr val="1F3A68"/>
            </a:solidFill>
          </a:ln>
        </p:spPr>
      </p:cxnSp>
      <p:cxnSp>
        <p:nvCxnSpPr>
          <p:cNvPr id="39" name="Assoc F3"/>
          <p:cNvCxnSpPr/>
          <p:nvPr/>
        </p:nvCxnSpPr>
        <p:spPr>
          <a:xfrm flipH="1">
            <a:off x="7470000" y="2480000"/>
            <a:ext cx="694840" cy="230000"/>
          </a:xfrm>
          <a:prstGeom prst="straightConnector1">
            <a:avLst/>
          </a:prstGeom>
          <a:ln w="12700">
            <a:solidFill>
              <a:srgbClr val="1B7F79"/>
            </a:solidFill>
          </a:ln>
        </p:spPr>
      </p:cxnSp>
      <p:cxnSp>
        <p:nvCxnSpPr>
          <p:cNvPr id="40" name="Assoc B4"/>
          <p:cNvCxnSpPr/>
          <p:nvPr/>
        </p:nvCxnSpPr>
        <p:spPr>
          <a:xfrm>
            <a:off x="1370000" y="2480000"/>
            <a:ext cx="550000" cy="770000"/>
          </a:xfrm>
          <a:prstGeom prst="straightConnector1">
            <a:avLst/>
          </a:prstGeom>
          <a:ln w="12700">
            <a:solidFill>
              <a:srgbClr val="1F3A68"/>
            </a:solidFill>
          </a:ln>
        </p:spPr>
      </p:cxnSp>
      <p:cxnSp>
        <p:nvCxnSpPr>
          <p:cNvPr id="41" name="Assoc F4"/>
          <p:cNvCxnSpPr/>
          <p:nvPr/>
        </p:nvCxnSpPr>
        <p:spPr>
          <a:xfrm flipH="1">
            <a:off x="7470000" y="2480000"/>
            <a:ext cx="694840" cy="770000"/>
          </a:xfrm>
          <a:prstGeom prst="straightConnector1">
            <a:avLst/>
          </a:prstGeom>
          <a:ln w="12700">
            <a:solidFill>
              <a:srgbClr val="1B7F79"/>
            </a:solidFill>
          </a:ln>
        </p:spPr>
      </p:cxnSp>
      <p:cxnSp>
        <p:nvCxnSpPr>
          <p:cNvPr id="42" name="Assoc A1"/>
          <p:cNvCxnSpPr/>
          <p:nvPr/>
        </p:nvCxnSpPr>
        <p:spPr>
          <a:xfrm flipH="1" flipV="1">
            <a:off x="4310000" y="4108000"/>
            <a:ext cx="340000" cy="192000"/>
          </a:xfrm>
          <a:prstGeom prst="straightConnector1">
            <a:avLst/>
          </a:prstGeom>
          <a:ln w="12700">
            <a:solidFill>
              <a:srgbClr val="E07A1F"/>
            </a:solidFill>
          </a:ln>
        </p:spPr>
      </p:cxnSp>
      <p:cxnSp>
        <p:nvCxnSpPr>
          <p:cNvPr id="43" name="Assoc A2"/>
          <p:cNvCxnSpPr/>
          <p:nvPr/>
        </p:nvCxnSpPr>
        <p:spPr>
          <a:xfrm flipV="1">
            <a:off x="4650000" y="4108000"/>
            <a:ext cx="340000" cy="192000"/>
          </a:xfrm>
          <a:prstGeom prst="straightConnector1">
            <a:avLst/>
          </a:prstGeom>
          <a:ln w="12700">
            <a:solidFill>
              <a:srgbClr val="E07A1F"/>
            </a:solidFill>
          </a:ln>
        </p:spPr>
      </p:cxnSp>
      <p:cxnSp>
        <p:nvCxnSpPr>
          <p:cNvPr id="44" name="Flow slot to QR"/>
          <p:cNvCxnSpPr/>
          <p:nvPr/>
        </p:nvCxnSpPr>
        <p:spPr>
          <a:xfrm flipV="1">
            <a:off x="3450000" y="2320000"/>
            <a:ext cx="460000" cy="280000"/>
          </a:xfrm>
          <a:prstGeom prst="straightConnector1">
            <a:avLst/>
          </a:prstGeom>
          <a:ln w="15875">
            <a:solidFill>
              <a:srgbClr val="262626"/>
            </a:solidFill>
            <a:prstDash val="dash"/>
            <a:tailEnd type="triangle" w="med" len="med"/>
          </a:ln>
        </p:spPr>
      </p:cxnSp>
      <p:cxnSp>
        <p:nvCxnSpPr>
          <p:cNvPr id="45" name="Flow QR to verify"/>
          <p:cNvCxnSpPr/>
          <p:nvPr/>
        </p:nvCxnSpPr>
        <p:spPr>
          <a:xfrm>
            <a:off x="5500000" y="2170000"/>
            <a:ext cx="270000" cy="0"/>
          </a:xfrm>
          <a:prstGeom prst="straightConnector1">
            <a:avLst/>
          </a:prstGeom>
          <a:ln w="15875">
            <a:solidFill>
              <a:srgbClr val="262626"/>
            </a:solidFill>
            <a:prstDash val="dash"/>
            <a:tailEnd type="triangle" w="med" len="med"/>
          </a:ln>
        </p:spPr>
      </p:cxnSp>
      <p:sp>
        <p:nvSpPr>
          <p:cNvPr id="46" name="Legend"/>
          <p:cNvSpPr txBox="1"/>
          <p:nvPr/>
        </p:nvSpPr>
        <p:spPr>
          <a:xfrm>
            <a:off x="955840" y="4530000"/>
            <a:ext cx="290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262626"/>
                </a:solidFill>
                <a:latin typeface="Times New Roman"/>
              </a:rPr>
              <a:t>Dashed arrows: Compliance submission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SYSTEM WORKFLOW</a:t>
            </a:r>
          </a:p>
        </p:txBody>
      </p:sp>
      <p:sp>
        <p:nvSpPr>
          <p:cNvPr id="3" name="Lane Beneficiary"/>
          <p:cNvSpPr txBox="1"/>
          <p:nvPr/>
        </p:nvSpPr>
        <p:spPr>
          <a:xfrm>
            <a:off x="1005840" y="1097280"/>
            <a:ext cx="7863840" cy="880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C9D4E5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4" name="Lane label Beneficiary"/>
          <p:cNvSpPr txBox="1"/>
          <p:nvPr/>
        </p:nvSpPr>
        <p:spPr>
          <a:xfrm>
            <a:off x="1005840" y="1097280"/>
            <a:ext cx="1100000" cy="880000"/>
          </a:xfrm>
          <a:prstGeom prst="roundRect">
            <a:avLst>
              <a:gd name="adj" fmla="val 12000"/>
            </a:avLst>
          </a:prstGeom>
          <a:solidFill>
            <a:srgbClr val="1F3A68"/>
          </a:solidFill>
          <a:ln>
            <a:noFill/>
          </a:ln>
        </p:spPr>
        <p:txBody>
          <a:bodyPr wrap="square" lIns="40000" tIns="40000" rIns="40000" bIns="4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Traveler</a:t>
            </a:r>
          </a:p>
        </p:txBody>
      </p:sp>
      <p:sp>
        <p:nvSpPr>
          <p:cNvPr id="5" name="Lane System"/>
          <p:cNvSpPr txBox="1"/>
          <p:nvPr/>
        </p:nvSpPr>
        <p:spPr>
          <a:xfrm>
            <a:off x="1005840" y="2038386"/>
            <a:ext cx="7863840" cy="8800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9525">
            <a:solidFill>
              <a:srgbClr val="C9D4E5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6" name="Lane label System"/>
          <p:cNvSpPr txBox="1"/>
          <p:nvPr/>
        </p:nvSpPr>
        <p:spPr>
          <a:xfrm>
            <a:off x="1005840" y="2038386"/>
            <a:ext cx="1100000" cy="880000"/>
          </a:xfrm>
          <a:prstGeom prst="roundRect">
            <a:avLst>
              <a:gd name="adj" fmla="val 12000"/>
            </a:avLst>
          </a:prstGeom>
          <a:solidFill>
            <a:srgbClr val="5B6B82"/>
          </a:solidFill>
          <a:ln>
            <a:noFill/>
          </a:ln>
        </p:spPr>
        <p:txBody>
          <a:bodyPr wrap="square" lIns="40000" tIns="40000" rIns="40000" bIns="4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TripFlow System</a:t>
            </a:r>
          </a:p>
        </p:txBody>
      </p:sp>
      <p:sp>
        <p:nvSpPr>
          <p:cNvPr id="7" name="Lane FPS Owner"/>
          <p:cNvSpPr txBox="1"/>
          <p:nvPr/>
        </p:nvSpPr>
        <p:spPr>
          <a:xfrm>
            <a:off x="1005840" y="2979492"/>
            <a:ext cx="7863840" cy="880000"/>
          </a:xfrm>
          <a:prstGeom prst="roundRect">
            <a:avLst>
              <a:gd name="adj" fmla="val 8000"/>
            </a:avLst>
          </a:prstGeom>
          <a:solidFill>
            <a:srgbClr val="E4F3F1"/>
          </a:solidFill>
          <a:ln w="9525">
            <a:solidFill>
              <a:srgbClr val="C9D4E5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8" name="Lane label FPS Owner"/>
          <p:cNvSpPr txBox="1"/>
          <p:nvPr/>
        </p:nvSpPr>
        <p:spPr>
          <a:xfrm>
            <a:off x="1005840" y="2979492"/>
            <a:ext cx="1100000" cy="880000"/>
          </a:xfrm>
          <a:prstGeom prst="roundRect">
            <a:avLst>
              <a:gd name="adj" fmla="val 12000"/>
            </a:avLst>
          </a:prstGeom>
          <a:solidFill>
            <a:srgbClr val="1B7F79"/>
          </a:solidFill>
          <a:ln>
            <a:noFill/>
          </a:ln>
        </p:spPr>
        <p:txBody>
          <a:bodyPr wrap="square" lIns="40000" tIns="40000" rIns="40000" bIns="4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Compliance Lock</a:t>
            </a:r>
          </a:p>
        </p:txBody>
      </p:sp>
      <p:sp>
        <p:nvSpPr>
          <p:cNvPr id="9" name="Lane Administrator"/>
          <p:cNvSpPr txBox="1"/>
          <p:nvPr/>
        </p:nvSpPr>
        <p:spPr>
          <a:xfrm>
            <a:off x="1005840" y="3920598"/>
            <a:ext cx="7863840" cy="880000"/>
          </a:xfrm>
          <a:prstGeom prst="roundRect">
            <a:avLst>
              <a:gd name="adj" fmla="val 8000"/>
            </a:avLst>
          </a:prstGeom>
          <a:solidFill>
            <a:srgbClr val="FDF0E2"/>
          </a:solidFill>
          <a:ln w="9525">
            <a:solidFill>
              <a:srgbClr val="C9D4E5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0" name="Lane label Administrator"/>
          <p:cNvSpPr txBox="1"/>
          <p:nvPr/>
        </p:nvSpPr>
        <p:spPr>
          <a:xfrm>
            <a:off x="1005840" y="3920598"/>
            <a:ext cx="1100000" cy="880000"/>
          </a:xfrm>
          <a:prstGeom prst="roundRect">
            <a:avLst>
              <a:gd name="adj" fmla="val 12000"/>
            </a:avLst>
          </a:prstGeom>
          <a:solidFill>
            <a:srgbClr val="E07A1F"/>
          </a:solidFill>
          <a:ln>
            <a:noFill/>
          </a:ln>
        </p:spPr>
        <p:txBody>
          <a:bodyPr wrap="square" lIns="40000" tIns="40000" rIns="40000" bIns="4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Govt Authority</a:t>
            </a:r>
          </a:p>
        </p:txBody>
      </p:sp>
      <p:sp>
        <p:nvSpPr>
          <p:cNvPr id="11" name="Step 1"/>
          <p:cNvSpPr txBox="1"/>
          <p:nvPr/>
        </p:nvSpPr>
        <p:spPr>
          <a:xfrm>
            <a:off x="2235326" y="1217280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1F3A68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Register &amp; Login (GK-2, 3)</a:t>
            </a:r>
          </a:p>
        </p:txBody>
      </p:sp>
      <p:sp>
        <p:nvSpPr>
          <p:cNvPr id="12" name="Step 2"/>
          <p:cNvSpPr txBox="1"/>
          <p:nvPr/>
        </p:nvSpPr>
        <p:spPr>
          <a:xfrm>
            <a:off x="3354299" y="1217280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1F3A68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Create Trip Draft (GK-8)</a:t>
            </a:r>
          </a:p>
        </p:txBody>
      </p:sp>
      <p:sp>
        <p:nvSpPr>
          <p:cNvPr id="13" name="Step 3"/>
          <p:cNvSpPr txBox="1"/>
          <p:nvPr/>
        </p:nvSpPr>
        <p:spPr>
          <a:xfrm>
            <a:off x="4473273" y="2158386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5B6B82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Log Places &amp; Notes (GK-9)</a:t>
            </a:r>
          </a:p>
        </p:txBody>
      </p:sp>
      <p:sp>
        <p:nvSpPr>
          <p:cNvPr id="14" name="Step 4"/>
          <p:cNvSpPr txBox="1"/>
          <p:nvPr/>
        </p:nvSpPr>
        <p:spPr>
          <a:xfrm>
            <a:off x="5592246" y="3099492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1B7F79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Attach Photos &amp; Logs (GK-10)</a:t>
            </a:r>
          </a:p>
        </p:txBody>
      </p:sp>
      <p:sp>
        <p:nvSpPr>
          <p:cNvPr id="15" name="Step 5"/>
          <p:cNvSpPr txBox="1"/>
          <p:nvPr/>
        </p:nvSpPr>
        <p:spPr>
          <a:xfrm>
            <a:off x="6711220" y="3099492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1B7F79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Submit Trip to Govt (GK-12)</a:t>
            </a:r>
          </a:p>
        </p:txBody>
      </p:sp>
      <p:sp>
        <p:nvSpPr>
          <p:cNvPr id="16" name="Step 6"/>
          <p:cNvSpPr txBox="1"/>
          <p:nvPr/>
        </p:nvSpPr>
        <p:spPr>
          <a:xfrm>
            <a:off x="7830193" y="2158386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5B6B82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Search &amp; Audit Dossiers (GK-16, 17)</a:t>
            </a:r>
          </a:p>
        </p:txBody>
      </p:sp>
      <p:sp>
        <p:nvSpPr>
          <p:cNvPr id="17" name="Step 7"/>
          <p:cNvSpPr txBox="1"/>
          <p:nvPr/>
        </p:nvSpPr>
        <p:spPr>
          <a:xfrm>
            <a:off x="7830193" y="4040598"/>
            <a:ext cx="960000" cy="640000"/>
          </a:xfrm>
          <a:prstGeom prst="roundRect">
            <a:avLst>
              <a:gd name="adj" fmla="val 14000"/>
            </a:avLst>
          </a:prstGeom>
          <a:solidFill>
            <a:srgbClr val="E07A1F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35000" tIns="35000" rIns="35000" bIns="35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262626"/>
                </a:solidFill>
                <a:latin typeface="Times New Roman"/>
              </a:rPr>
              <a:t>Destination &amp; Date Analytics (GK-19, 20)</a:t>
            </a:r>
          </a:p>
        </p:txBody>
      </p:sp>
      <p:cxnSp>
        <p:nvCxnSpPr>
          <p:cNvPr id="18" name="Flow 1-2"/>
          <p:cNvCxnSpPr/>
          <p:nvPr/>
        </p:nvCxnSpPr>
        <p:spPr>
          <a:xfrm>
            <a:off x="3195326" y="1537280"/>
            <a:ext cx="158973" cy="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19" name="Flow 2-3"/>
          <p:cNvCxnSpPr/>
          <p:nvPr/>
        </p:nvCxnSpPr>
        <p:spPr>
          <a:xfrm>
            <a:off x="4314300" y="1537280"/>
            <a:ext cx="158973" cy="941106"/>
          </a:xfrm>
          <a:prstGeom prst="bentConnector3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20" name="Flow 3-4"/>
          <p:cNvCxnSpPr/>
          <p:nvPr/>
        </p:nvCxnSpPr>
        <p:spPr>
          <a:xfrm>
            <a:off x="5433273" y="2478386"/>
            <a:ext cx="158973" cy="941106"/>
          </a:xfrm>
          <a:prstGeom prst="bentConnector3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21" name="Flow 4-5"/>
          <p:cNvCxnSpPr/>
          <p:nvPr/>
        </p:nvCxnSpPr>
        <p:spPr>
          <a:xfrm>
            <a:off x="6552246" y="3419492"/>
            <a:ext cx="158973" cy="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22" name="Flow 5-6"/>
          <p:cNvCxnSpPr/>
          <p:nvPr/>
        </p:nvCxnSpPr>
        <p:spPr>
          <a:xfrm flipV="1">
            <a:off x="7671220" y="2478386"/>
            <a:ext cx="158973" cy="941106"/>
          </a:xfrm>
          <a:prstGeom prst="bentConnector3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23" name="Flow 6-7"/>
          <p:cNvCxnSpPr/>
          <p:nvPr/>
        </p:nvCxnSpPr>
        <p:spPr>
          <a:xfrm>
            <a:off x="8310193" y="2798386"/>
            <a:ext cx="0" cy="1242212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sp>
        <p:nvSpPr>
          <p:cNvPr id="24" name="Step badge 1"/>
          <p:cNvSpPr txBox="1"/>
          <p:nvPr/>
        </p:nvSpPr>
        <p:spPr>
          <a:xfrm>
            <a:off x="2130326" y="1112280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5" name="Step badge 2"/>
          <p:cNvSpPr txBox="1"/>
          <p:nvPr/>
        </p:nvSpPr>
        <p:spPr>
          <a:xfrm>
            <a:off x="3249299" y="1112280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6" name="Step badge 3"/>
          <p:cNvSpPr txBox="1"/>
          <p:nvPr/>
        </p:nvSpPr>
        <p:spPr>
          <a:xfrm>
            <a:off x="4368273" y="2053386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7" name="Step badge 4"/>
          <p:cNvSpPr txBox="1"/>
          <p:nvPr/>
        </p:nvSpPr>
        <p:spPr>
          <a:xfrm>
            <a:off x="5487246" y="2994492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8" name="Step badge 5"/>
          <p:cNvSpPr txBox="1"/>
          <p:nvPr/>
        </p:nvSpPr>
        <p:spPr>
          <a:xfrm>
            <a:off x="6606220" y="2994492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29" name="Step badge 6"/>
          <p:cNvSpPr txBox="1"/>
          <p:nvPr/>
        </p:nvSpPr>
        <p:spPr>
          <a:xfrm>
            <a:off x="7725193" y="2053386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30" name="Step badge 7"/>
          <p:cNvSpPr txBox="1"/>
          <p:nvPr/>
        </p:nvSpPr>
        <p:spPr>
          <a:xfrm>
            <a:off x="7725193" y="3935598"/>
            <a:ext cx="230000" cy="23000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SYSTEM ARCHITECTURE</a:t>
            </a:r>
          </a:p>
        </p:txBody>
      </p:sp>
      <p:sp>
        <p:nvSpPr>
          <p:cNvPr id="3" name="Tier 1"/>
          <p:cNvSpPr txBox="1"/>
          <p:nvPr/>
        </p:nvSpPr>
        <p:spPr>
          <a:xfrm>
            <a:off x="1005840" y="1097280"/>
            <a:ext cx="4300000" cy="950000"/>
          </a:xfrm>
          <a:prstGeom prst="roundRect">
            <a:avLst>
              <a:gd name="adj" fmla="val 10000"/>
            </a:avLst>
          </a:prstGeom>
          <a:solidFill>
            <a:srgbClr val="1F3A68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Presentation Layer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Frontend: React 18, Vite, Tailwind CSS</a:t>
            </a:r>
          </a:p>
        </p:txBody>
      </p:sp>
      <p:cxnSp>
        <p:nvCxnSpPr>
          <p:cNvPr id="4" name="Tier arrow 1"/>
          <p:cNvCxnSpPr/>
          <p:nvPr/>
        </p:nvCxnSpPr>
        <p:spPr>
          <a:xfrm>
            <a:off x="3155840" y="2077280"/>
            <a:ext cx="0" cy="366660"/>
          </a:xfrm>
          <a:prstGeom prst="straightConnector1">
            <a:avLst/>
          </a:prstGeom>
          <a:ln w="19050">
            <a:solidFill>
              <a:srgbClr val="262626"/>
            </a:solidFill>
            <a:headEnd type="triangle" w="med" len="med"/>
            <a:tailEnd type="triangle" w="med" len="med"/>
          </a:ln>
        </p:spPr>
      </p:cxnSp>
      <p:sp>
        <p:nvSpPr>
          <p:cNvPr id="5" name="Tier 2"/>
          <p:cNvSpPr txBox="1"/>
          <p:nvPr/>
        </p:nvSpPr>
        <p:spPr>
          <a:xfrm>
            <a:off x="1005840" y="2473940"/>
            <a:ext cx="4300000" cy="950000"/>
          </a:xfrm>
          <a:prstGeom prst="roundRect">
            <a:avLst>
              <a:gd name="adj" fmla="val 10000"/>
            </a:avLst>
          </a:prstGeom>
          <a:solidFill>
            <a:srgbClr val="1B7F79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Application Layer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Backend: Node.js, Express.js REST APIs</a:t>
            </a:r>
          </a:p>
        </p:txBody>
      </p:sp>
      <p:cxnSp>
        <p:nvCxnSpPr>
          <p:cNvPr id="6" name="Tier arrow 2"/>
          <p:cNvCxnSpPr/>
          <p:nvPr/>
        </p:nvCxnSpPr>
        <p:spPr>
          <a:xfrm>
            <a:off x="3155840" y="3453940"/>
            <a:ext cx="0" cy="366660"/>
          </a:xfrm>
          <a:prstGeom prst="straightConnector1">
            <a:avLst/>
          </a:prstGeom>
          <a:ln w="19050">
            <a:solidFill>
              <a:srgbClr val="262626"/>
            </a:solidFill>
            <a:headEnd type="triangle" w="med" len="med"/>
            <a:tailEnd type="triangle" w="med" len="med"/>
          </a:ln>
        </p:spPr>
      </p:cxnSp>
      <p:sp>
        <p:nvSpPr>
          <p:cNvPr id="7" name="Tier 3"/>
          <p:cNvSpPr txBox="1"/>
          <p:nvPr/>
        </p:nvSpPr>
        <p:spPr>
          <a:xfrm>
            <a:off x="1005840" y="3850600"/>
            <a:ext cx="4300000" cy="950000"/>
          </a:xfrm>
          <a:prstGeom prst="roundRect">
            <a:avLst>
              <a:gd name="adj" fmla="val 10000"/>
            </a:avLst>
          </a:prstGeom>
          <a:solidFill>
            <a:srgbClr val="E07A1F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111827"/>
                </a:solidFill>
                <a:latin typeface="Times New Roman"/>
              </a:rPr>
              <a:t>Data &amp; Security Layer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JWT Authentication, Bcrypt, JSON Store</a:t>
            </a:r>
          </a:p>
        </p:txBody>
      </p:sp>
      <p:sp>
        <p:nvSpPr>
          <p:cNvPr id="8" name="Request flow"/>
          <p:cNvSpPr txBox="1"/>
          <p:nvPr/>
        </p:nvSpPr>
        <p:spPr>
          <a:xfrm>
            <a:off x="5505840" y="1097280"/>
            <a:ext cx="3363840" cy="1751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20000" tIns="120000" rIns="120000" bIns="12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1">
                <a:solidFill>
                  <a:srgbClr val="111827"/>
                </a:solidFill>
                <a:latin typeface="Times New Roman"/>
              </a:rPr>
              <a:t>Request flow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Frontend sends authenticated REST API calls with JWT Bearer tokens.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Express.js applies business logic, RBAC, and data validation.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Persistent store safely saves and retrieves traveler records &amp; media.</a:t>
            </a:r>
          </a:p>
        </p:txBody>
      </p:sp>
      <p:sp>
        <p:nvSpPr>
          <p:cNvPr id="9" name="Stored records"/>
          <p:cNvSpPr txBox="1"/>
          <p:nvPr/>
        </p:nvSpPr>
        <p:spPr>
          <a:xfrm>
            <a:off x="5505840" y="3048940"/>
            <a:ext cx="3363840" cy="1751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20000" tIns="120000" rIns="120000" bIns="12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1">
                <a:solidFill>
                  <a:srgbClr val="111827"/>
                </a:solidFill>
                <a:latin typeface="Times New Roman"/>
              </a:rPr>
              <a:t>Stored records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Users &amp; role credentials (travelers, officials)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Trips, destinations, budgets, and travel dates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Visited waypoints, landmark notes, and ratings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Photo logs, captions, and audit timestamps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AGILE SPRINT PLAN</a:t>
            </a:r>
          </a:p>
        </p:txBody>
      </p:sp>
      <p:sp>
        <p:nvSpPr>
          <p:cNvPr id="3" name="Sprint card 1"/>
          <p:cNvSpPr txBox="1"/>
          <p:nvPr/>
        </p:nvSpPr>
        <p:spPr>
          <a:xfrm>
            <a:off x="1005840" y="109728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4" name="Sprint badge 1"/>
          <p:cNvSpPr txBox="1"/>
          <p:nvPr/>
        </p:nvSpPr>
        <p:spPr>
          <a:xfrm>
            <a:off x="1115840" y="120728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5" name="Sprint title 1"/>
          <p:cNvSpPr txBox="1"/>
          <p:nvPr/>
        </p:nvSpPr>
        <p:spPr>
          <a:xfrm>
            <a:off x="1115840" y="171728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Sprint 1: Access &amp; Initiation</a:t>
            </a:r>
          </a:p>
        </p:txBody>
      </p:sp>
      <p:sp>
        <p:nvSpPr>
          <p:cNvPr id="6" name="Sprint text 1"/>
          <p:cNvSpPr txBox="1"/>
          <p:nvPr/>
        </p:nvSpPr>
        <p:spPr>
          <a:xfrm>
            <a:off x="1115840" y="205728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GK-2 Signup, GK-3 Login, GK-8 Create Trip (8 SP)</a:t>
            </a:r>
          </a:p>
        </p:txBody>
      </p:sp>
      <p:sp>
        <p:nvSpPr>
          <p:cNvPr id="7" name="Sprint card 2"/>
          <p:cNvSpPr txBox="1"/>
          <p:nvPr/>
        </p:nvSpPr>
        <p:spPr>
          <a:xfrm>
            <a:off x="3009300" y="109728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8" name="Sprint badge 2"/>
          <p:cNvSpPr txBox="1"/>
          <p:nvPr/>
        </p:nvSpPr>
        <p:spPr>
          <a:xfrm>
            <a:off x="3119300" y="120728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9" name="Sprint title 2"/>
          <p:cNvSpPr txBox="1"/>
          <p:nvPr/>
        </p:nvSpPr>
        <p:spPr>
          <a:xfrm>
            <a:off x="3119300" y="171728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Sprint 2: Itinerary &amp; Submit</a:t>
            </a:r>
          </a:p>
        </p:txBody>
      </p:sp>
      <p:sp>
        <p:nvSpPr>
          <p:cNvPr id="10" name="Sprint text 2"/>
          <p:cNvSpPr txBox="1"/>
          <p:nvPr/>
        </p:nvSpPr>
        <p:spPr>
          <a:xfrm>
            <a:off x="3119300" y="205728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GK-9 Places, GK-10 Photos, GK-12 Submit Trip (10 SP)</a:t>
            </a:r>
          </a:p>
        </p:txBody>
      </p:sp>
      <p:sp>
        <p:nvSpPr>
          <p:cNvPr id="11" name="Sprint card 3"/>
          <p:cNvSpPr txBox="1"/>
          <p:nvPr/>
        </p:nvSpPr>
        <p:spPr>
          <a:xfrm>
            <a:off x="5012760" y="109728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2" name="Sprint badge 3"/>
          <p:cNvSpPr txBox="1"/>
          <p:nvPr/>
        </p:nvSpPr>
        <p:spPr>
          <a:xfrm>
            <a:off x="5122760" y="120728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3" name="Sprint title 3"/>
          <p:cNvSpPr txBox="1"/>
          <p:nvPr/>
        </p:nvSpPr>
        <p:spPr>
          <a:xfrm>
            <a:off x="5122760" y="171728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Sprint 3: History &amp; Ingestion</a:t>
            </a:r>
          </a:p>
        </p:txBody>
      </p:sp>
      <p:sp>
        <p:nvSpPr>
          <p:cNvPr id="14" name="Sprint text 3"/>
          <p:cNvSpPr txBox="1"/>
          <p:nvPr/>
        </p:nvSpPr>
        <p:spPr>
          <a:xfrm>
            <a:off x="5122760" y="205728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GK-13 Previous Trip, GK-14 CRUD, GK-16 Records (11 SP)</a:t>
            </a:r>
          </a:p>
        </p:txBody>
      </p:sp>
      <p:sp>
        <p:nvSpPr>
          <p:cNvPr id="15" name="Sprint card 4"/>
          <p:cNvSpPr txBox="1"/>
          <p:nvPr/>
        </p:nvSpPr>
        <p:spPr>
          <a:xfrm>
            <a:off x="7016220" y="109728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16" name="Sprint badge 4"/>
          <p:cNvSpPr txBox="1"/>
          <p:nvPr/>
        </p:nvSpPr>
        <p:spPr>
          <a:xfrm>
            <a:off x="7126220" y="120728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7" name="Sprint title 4"/>
          <p:cNvSpPr txBox="1"/>
          <p:nvPr/>
        </p:nvSpPr>
        <p:spPr>
          <a:xfrm>
            <a:off x="7126220" y="171728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Sprint 4: Search &amp; Analytics</a:t>
            </a:r>
          </a:p>
        </p:txBody>
      </p:sp>
      <p:sp>
        <p:nvSpPr>
          <p:cNvPr id="18" name="Sprint text 4"/>
          <p:cNvSpPr txBox="1"/>
          <p:nvPr/>
        </p:nvSpPr>
        <p:spPr>
          <a:xfrm>
            <a:off x="7126220" y="205728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GK-17 Search &amp; Filter, GK-19 Destination Metrics (6 SP)</a:t>
            </a:r>
          </a:p>
        </p:txBody>
      </p:sp>
      <p:sp>
        <p:nvSpPr>
          <p:cNvPr id="19" name="Sprint card 5"/>
          <p:cNvSpPr txBox="1"/>
          <p:nvPr/>
        </p:nvSpPr>
        <p:spPr>
          <a:xfrm>
            <a:off x="1005840" y="302394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20" name="Sprint badge 5"/>
          <p:cNvSpPr txBox="1"/>
          <p:nvPr/>
        </p:nvSpPr>
        <p:spPr>
          <a:xfrm>
            <a:off x="1115840" y="313394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21" name="Sprint title 5"/>
          <p:cNvSpPr txBox="1"/>
          <p:nvPr/>
        </p:nvSpPr>
        <p:spPr>
          <a:xfrm>
            <a:off x="1115840" y="364394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Sprint 4: Temporal Tracking</a:t>
            </a:r>
          </a:p>
        </p:txBody>
      </p:sp>
      <p:sp>
        <p:nvSpPr>
          <p:cNvPr id="22" name="Sprint text 5"/>
          <p:cNvSpPr txBox="1"/>
          <p:nvPr/>
        </p:nvSpPr>
        <p:spPr>
          <a:xfrm>
            <a:off x="1115840" y="398394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GK-20 View travel activity by date &amp; timeline (3 SP)</a:t>
            </a:r>
          </a:p>
        </p:txBody>
      </p:sp>
      <p:sp>
        <p:nvSpPr>
          <p:cNvPr id="23" name="Sprint card 6"/>
          <p:cNvSpPr txBox="1"/>
          <p:nvPr/>
        </p:nvSpPr>
        <p:spPr>
          <a:xfrm>
            <a:off x="3009300" y="302394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24" name="Sprint badge 6"/>
          <p:cNvSpPr txBox="1"/>
          <p:nvPr/>
        </p:nvSpPr>
        <p:spPr>
          <a:xfrm>
            <a:off x="3119300" y="313394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25" name="Sprint title 6"/>
          <p:cNvSpPr txBox="1"/>
          <p:nvPr/>
        </p:nvSpPr>
        <p:spPr>
          <a:xfrm>
            <a:off x="3119300" y="364394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Backlog: Visual Evidence</a:t>
            </a:r>
          </a:p>
        </p:txBody>
      </p:sp>
      <p:sp>
        <p:nvSpPr>
          <p:cNvPr id="26" name="Sprint text 6"/>
          <p:cNvSpPr txBox="1"/>
          <p:nvPr/>
        </p:nvSpPr>
        <p:spPr>
          <a:xfrm>
            <a:off x="3119300" y="398394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GK-21 View photos/descriptions in gallery (3 SP)</a:t>
            </a:r>
          </a:p>
        </p:txBody>
      </p:sp>
      <p:sp>
        <p:nvSpPr>
          <p:cNvPr id="27" name="Sprint card 7"/>
          <p:cNvSpPr txBox="1"/>
          <p:nvPr/>
        </p:nvSpPr>
        <p:spPr>
          <a:xfrm>
            <a:off x="5012760" y="302394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ctr">
            <a:noAutofit/>
          </a:bodyPr>
          <a:lstStyle/>
          <a:p>
            <a:endParaRPr lang="en-US"/>
          </a:p>
        </p:txBody>
      </p:sp>
      <p:sp>
        <p:nvSpPr>
          <p:cNvPr id="28" name="Sprint badge 7"/>
          <p:cNvSpPr txBox="1"/>
          <p:nvPr/>
        </p:nvSpPr>
        <p:spPr>
          <a:xfrm>
            <a:off x="5122760" y="3133940"/>
            <a:ext cx="400000" cy="400000"/>
          </a:xfrm>
          <a:prstGeom prst="ellipse">
            <a:avLst/>
          </a:prstGeom>
          <a:solidFill>
            <a:srgbClr val="E07A1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29" name="Sprint title 7"/>
          <p:cNvSpPr txBox="1"/>
          <p:nvPr/>
        </p:nvSpPr>
        <p:spPr>
          <a:xfrm>
            <a:off x="5122760" y="3643940"/>
            <a:ext cx="1633460" cy="33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Verification &amp; Testing</a:t>
            </a:r>
          </a:p>
        </p:txBody>
      </p:sp>
      <p:sp>
        <p:nvSpPr>
          <p:cNvPr id="30" name="Sprint text 7"/>
          <p:cNvSpPr txBox="1"/>
          <p:nvPr/>
        </p:nvSpPr>
        <p:spPr>
          <a:xfrm>
            <a:off x="5122760" y="3983940"/>
            <a:ext cx="1633460" cy="7766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Times New Roman"/>
              </a:rPr>
              <a:t>Automated end-to-end API test suite passed (100%)</a:t>
            </a:r>
          </a:p>
        </p:txBody>
      </p:sp>
      <p:sp>
        <p:nvSpPr>
          <p:cNvPr id="31" name="Agile panel"/>
          <p:cNvSpPr txBox="1"/>
          <p:nvPr/>
        </p:nvSpPr>
        <p:spPr>
          <a:xfrm>
            <a:off x="7016220" y="3023940"/>
            <a:ext cx="1853460" cy="1776660"/>
          </a:xfrm>
          <a:prstGeom prst="roundRect">
            <a:avLst>
              <a:gd name="adj" fmla="val 6000"/>
            </a:avLst>
          </a:prstGeom>
          <a:solidFill>
            <a:srgbClr val="1F3A68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10000" tIns="110000" rIns="110000" bIns="11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11827"/>
                </a:solidFill>
                <a:latin typeface="Times New Roman"/>
              </a:rPr>
              <a:t>Agile-oriented approach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Incremental sprints deliver all 13 user stories across Traveler and Government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47225" y="513034"/>
            <a:ext cx="7680960" cy="47448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TECHNOLOGY AND BENEFITS</a:t>
            </a:r>
          </a:p>
        </p:txBody>
      </p:sp>
      <p:sp>
        <p:nvSpPr>
          <p:cNvPr id="3" name="Tech heading"/>
          <p:cNvSpPr txBox="1"/>
          <p:nvPr/>
        </p:nvSpPr>
        <p:spPr>
          <a:xfrm>
            <a:off x="1005840" y="1097280"/>
            <a:ext cx="7863840" cy="300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Technology stack</a:t>
            </a:r>
          </a:p>
        </p:txBody>
      </p:sp>
      <p:sp>
        <p:nvSpPr>
          <p:cNvPr id="4" name="Tech 1"/>
          <p:cNvSpPr txBox="1"/>
          <p:nvPr/>
        </p:nvSpPr>
        <p:spPr>
          <a:xfrm>
            <a:off x="1005840" y="1427280"/>
            <a:ext cx="185346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FRONTEND</a:t>
            </a:r>
          </a:p>
          <a:p>
            <a:r>
              <a:rPr sz="1000" b="0">
                <a:solidFill>
                  <a:srgbClr val="4B5563"/>
                </a:solidFill>
                <a:latin typeface="Times New Roman"/>
              </a:rPr>
              <a:t>React 18, Vite, Tailwind CSS, Lucide Icons</a:t>
            </a:r>
          </a:p>
        </p:txBody>
      </p:sp>
      <p:sp>
        <p:nvSpPr>
          <p:cNvPr id="5" name="Tech 2"/>
          <p:cNvSpPr txBox="1"/>
          <p:nvPr/>
        </p:nvSpPr>
        <p:spPr>
          <a:xfrm>
            <a:off x="3009300" y="1427280"/>
            <a:ext cx="185346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BACKEND</a:t>
            </a:r>
          </a:p>
          <a:p>
            <a:r>
              <a:rPr sz="1000" b="0">
                <a:solidFill>
                  <a:srgbClr val="4B5563"/>
                </a:solidFill>
                <a:latin typeface="Times New Roman"/>
              </a:rPr>
              <a:t>Node.js, Express.js REST APIs</a:t>
            </a:r>
          </a:p>
        </p:txBody>
      </p:sp>
      <p:sp>
        <p:nvSpPr>
          <p:cNvPr id="6" name="Tech 3"/>
          <p:cNvSpPr txBox="1"/>
          <p:nvPr/>
        </p:nvSpPr>
        <p:spPr>
          <a:xfrm>
            <a:off x="5012760" y="1427280"/>
            <a:ext cx="185346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SECURITY &amp; DATA</a:t>
            </a:r>
          </a:p>
          <a:p>
            <a:r>
              <a:rPr sz="1000" b="0">
                <a:solidFill>
                  <a:srgbClr val="4B5563"/>
                </a:solidFill>
                <a:latin typeface="Times New Roman"/>
              </a:rPr>
              <a:t>JWT, Bcrypt.js, Structured Document Store</a:t>
            </a:r>
          </a:p>
        </p:txBody>
      </p:sp>
      <p:sp>
        <p:nvSpPr>
          <p:cNvPr id="7" name="Tech 4"/>
          <p:cNvSpPr txBox="1"/>
          <p:nvPr/>
        </p:nvSpPr>
        <p:spPr>
          <a:xfrm>
            <a:off x="7016220" y="1427280"/>
            <a:ext cx="185346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10000" tIns="110000" rIns="110000" bIns="11000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111827"/>
                </a:solidFill>
                <a:latin typeface="Times New Roman"/>
              </a:rPr>
              <a:t>INTEGRATION</a:t>
            </a:r>
          </a:p>
          <a:p>
            <a:r>
              <a:rPr sz="1000" b="0">
                <a:solidFill>
                  <a:srgbClr val="4B5563"/>
                </a:solidFill>
                <a:latin typeface="Times New Roman"/>
              </a:rPr>
              <a:t>RESTful APIs with Role-Based Access Control</a:t>
            </a:r>
          </a:p>
        </p:txBody>
      </p:sp>
      <p:sp>
        <p:nvSpPr>
          <p:cNvPr id="8" name="Benefits"/>
          <p:cNvSpPr txBox="1"/>
          <p:nvPr/>
        </p:nvSpPr>
        <p:spPr>
          <a:xfrm>
            <a:off x="1005840" y="2757280"/>
            <a:ext cx="3840480" cy="204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4E5"/>
            </a:solidFill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20000" tIns="120000" rIns="120000" bIns="12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Benefits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Convenient digital itinerary planning &amp; landmark logging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Eliminates paperwork with verified digital submission lock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Real-time destination analytics and tourist distribution tracking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Transparent monitoring via temporal date views &amp; photo audit</a:t>
            </a:r>
          </a:p>
        </p:txBody>
      </p:sp>
      <p:sp>
        <p:nvSpPr>
          <p:cNvPr id="9" name="Conclusion"/>
          <p:cNvSpPr txBox="1"/>
          <p:nvPr/>
        </p:nvSpPr>
        <p:spPr>
          <a:xfrm>
            <a:off x="5029200" y="2757280"/>
            <a:ext cx="3840480" cy="2043320"/>
          </a:xfrm>
          <a:prstGeom prst="roundRect">
            <a:avLst>
              <a:gd name="adj" fmla="val 6000"/>
            </a:avLst>
          </a:prstGeom>
          <a:solidFill>
            <a:srgbClr val="1F3A68"/>
          </a:solidFill>
          <a:ln>
            <a:noFill/>
          </a:ln>
          <a:effectLst>
            <a:outerShdw blurRad="635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20000" tIns="120000" rIns="120000" bIns="12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1">
                <a:solidFill>
                  <a:srgbClr val="111827"/>
                </a:solidFill>
                <a:latin typeface="Times New Roman"/>
              </a:rPr>
              <a:t>Conclusion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Centralized, role-based digital travel management platform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Registration to compliance audit in one seamless workflow</a:t>
            </a:r>
          </a:p>
          <a:p>
            <a:r>
              <a:rPr sz="1100" b="0">
                <a:solidFill>
                  <a:srgbClr val="374151"/>
                </a:solidFill>
                <a:latin typeface="Times New Roman"/>
              </a:rPr>
              <a:t>Modern web technologies deliver speed, security &amp; high reliability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hank you">
            <a:extLst>
              <a:ext uri="{FF2B5EF4-FFF2-40B4-BE49-F238E27FC236}">
                <a16:creationId xmlns:a16="http://schemas.microsoft.com/office/drawing/2014/main" id="{DFD9CCD0-E55B-6587-C7C7-AA80E4D1EF45}"/>
              </a:ext>
            </a:extLst>
          </p:cNvPr>
          <p:cNvSpPr txBox="1"/>
          <p:nvPr/>
        </p:nvSpPr>
        <p:spPr>
          <a:xfrm>
            <a:off x="1737360" y="104775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0"/>
              </a:spcBef>
            </a:pPr>
            <a:r>
              <a:rPr lang="en-US" sz="4400" b="1" dirty="0">
                <a:solidFill>
                  <a:srgbClr val="D62828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13" name="Project name">
            <a:extLst>
              <a:ext uri="{FF2B5EF4-FFF2-40B4-BE49-F238E27FC236}">
                <a16:creationId xmlns:a16="http://schemas.microsoft.com/office/drawing/2014/main" id="{BB8FAA1E-E6A4-4579-1D20-2D9DACDDEC7B}"/>
              </a:ext>
            </a:extLst>
          </p:cNvPr>
          <p:cNvSpPr txBox="1"/>
          <p:nvPr/>
        </p:nvSpPr>
        <p:spPr>
          <a:xfrm>
            <a:off x="1737360" y="1962150"/>
            <a:ext cx="5669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0"/>
              </a:spcBef>
            </a:pPr>
            <a:r>
              <a:rPr sz="2200" b="1">
                <a:latin typeface="Times New Roman"/>
              </a:rPr>
              <a:t>TRIP MANAGEMENT SYSTEM (TMS)</a:t>
            </a:r>
          </a:p>
        </p:txBody>
      </p:sp>
      <p:sp>
        <p:nvSpPr>
          <p:cNvPr id="15" name="Links">
            <a:extLst>
              <a:ext uri="{FF2B5EF4-FFF2-40B4-BE49-F238E27FC236}">
                <a16:creationId xmlns:a16="http://schemas.microsoft.com/office/drawing/2014/main" id="{3A5F8B14-B6A7-2890-828C-4D9BD80F5365}"/>
              </a:ext>
            </a:extLst>
          </p:cNvPr>
          <p:cNvSpPr txBox="1"/>
          <p:nvPr/>
        </p:nvSpPr>
        <p:spPr>
          <a:xfrm>
            <a:off x="1737360" y="278511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>
                <a:solidFill>
                  <a:srgbClr val="4B5563"/>
                </a:solidFill>
                <a:latin typeface="Times New Roman"/>
              </a:rPr>
              <a:t>Objective: Convenient, digital and transparent travel planning and compliance monitoring</a:t>
            </a:r>
          </a:p>
          <a:p>
            <a:r>
              <a:rPr sz="1200" b="0">
                <a:solidFill>
                  <a:srgbClr val="4B5563"/>
                </a:solidFill>
                <a:latin typeface="Times New Roman"/>
              </a:rPr>
              <a:t>Users: International &amp; Domestic Travelers, Government Tourism Authorities</a:t>
            </a:r>
          </a:p>
        </p:txBody>
      </p:sp>
    </p:spTree>
    <p:extLst>
      <p:ext uri="{BB962C8B-B14F-4D97-AF65-F5344CB8AC3E}">
        <p14:creationId xmlns:p14="http://schemas.microsoft.com/office/powerpoint/2010/main" val="114591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562</Words>
  <Application>Microsoft Office PowerPoint</Application>
  <PresentationFormat>On-screen Show (16:9)</PresentationFormat>
  <Paragraphs>158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Times New Roman</vt:lpstr>
      <vt:lpstr>Office Theme</vt:lpstr>
      <vt:lpstr>KONGU ENGINEERING COLLEGE PERUNDURAI ERODE-638060 DEPARTMENT OF CSE</vt:lpstr>
      <vt:lpstr>INTRODUCTION AND OBJECTIVES</vt:lpstr>
      <vt:lpstr>USERS AND MODULES</vt:lpstr>
      <vt:lpstr>USE CASE DIAGRAM</vt:lpstr>
      <vt:lpstr>SYSTEM WORKFLOW</vt:lpstr>
      <vt:lpstr>SYSTEM ARCHITECTURE</vt:lpstr>
      <vt:lpstr>AGILE SPRINT PLAN</vt:lpstr>
      <vt:lpstr>TECHNOLOGY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sem4</dc:title>
  <cp:lastModifiedBy>DHARSHINI N</cp:lastModifiedBy>
  <cp:revision>10</cp:revision>
  <dcterms:created xsi:type="dcterms:W3CDTF">2026-05-28T15:36:24Z</dcterms:created>
  <dcterms:modified xsi:type="dcterms:W3CDTF">2026-10-22T06:54:34Z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2026-05-28T00:00:00Z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2026-05-28T00:00:00Z</vt:filetime>
  </property>
</Properties>
</file>